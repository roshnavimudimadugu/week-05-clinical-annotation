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15087600" cx="123444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872">
          <p15:clr>
            <a:srgbClr val="A4A3A4"/>
          </p15:clr>
        </p15:guide>
        <p15:guide id="2" pos="3888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8" roundtripDataSignature="AMtx7mhE5CM89sIJY3oPbbhw6VH2Sftk+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872" orient="horz"/>
        <p:guide pos="388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026544" y="685800"/>
            <a:ext cx="2805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ccc49f7bb7_0_0:notes"/>
          <p:cNvSpPr/>
          <p:nvPr>
            <p:ph idx="2" type="sldImg"/>
          </p:nvPr>
        </p:nvSpPr>
        <p:spPr>
          <a:xfrm>
            <a:off x="2026544" y="685800"/>
            <a:ext cx="2805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ccc49f7b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/>
          <p:nvPr>
            <p:ph idx="2" type="sldImg"/>
          </p:nvPr>
        </p:nvSpPr>
        <p:spPr>
          <a:xfrm>
            <a:off x="2027238" y="685800"/>
            <a:ext cx="2805112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PLEASE NOTE – highlighted areas are where the VCEP should provide guidance for each gene under specification.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Weights may be adjusted if appropriate (e.g start codon)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ctrTitle"/>
          </p:nvPr>
        </p:nvSpPr>
        <p:spPr>
          <a:xfrm>
            <a:off x="420806" y="2184087"/>
            <a:ext cx="11502900" cy="6021000"/>
          </a:xfrm>
          <a:prstGeom prst="rect">
            <a:avLst/>
          </a:prstGeom>
          <a:noFill/>
          <a:ln>
            <a:noFill/>
          </a:ln>
        </p:spPr>
        <p:txBody>
          <a:bodyPr anchorCtr="0" anchor="b" bIns="172700" lIns="172700" spcFirstLastPara="1" rIns="172700" wrap="square" tIns="172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9pPr>
          </a:lstStyle>
          <a:p/>
        </p:txBody>
      </p:sp>
      <p:sp>
        <p:nvSpPr>
          <p:cNvPr id="11" name="Google Shape;11;p3"/>
          <p:cNvSpPr txBox="1"/>
          <p:nvPr>
            <p:ph idx="1" type="subTitle"/>
          </p:nvPr>
        </p:nvSpPr>
        <p:spPr>
          <a:xfrm>
            <a:off x="420795" y="8313433"/>
            <a:ext cx="11502900" cy="23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172700" lIns="172700" spcFirstLastPara="1" rIns="172700" wrap="square" tIns="172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/>
        </p:txBody>
      </p:sp>
      <p:sp>
        <p:nvSpPr>
          <p:cNvPr id="12" name="Google Shape;12;p3"/>
          <p:cNvSpPr txBox="1"/>
          <p:nvPr>
            <p:ph idx="12" type="sldNum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2700" lIns="172700" spcFirstLastPara="1" rIns="172700" wrap="square" tIns="172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/>
          <p:nvPr>
            <p:ph type="title"/>
          </p:nvPr>
        </p:nvSpPr>
        <p:spPr>
          <a:xfrm>
            <a:off x="420795" y="6309160"/>
            <a:ext cx="11502900" cy="24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2700" lIns="172700" spcFirstLastPara="1" rIns="172700" wrap="square" tIns="172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9pPr>
          </a:lstStyle>
          <a:p/>
        </p:txBody>
      </p:sp>
      <p:sp>
        <p:nvSpPr>
          <p:cNvPr id="15" name="Google Shape;15;p4"/>
          <p:cNvSpPr txBox="1"/>
          <p:nvPr>
            <p:ph idx="12" type="sldNum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2700" lIns="172700" spcFirstLastPara="1" rIns="172700" wrap="square" tIns="172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/>
          <p:nvPr>
            <p:ph type="title"/>
          </p:nvPr>
        </p:nvSpPr>
        <p:spPr>
          <a:xfrm>
            <a:off x="420795" y="1305407"/>
            <a:ext cx="11502900" cy="1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72700" lIns="172700" spcFirstLastPara="1" rIns="172700" wrap="square" tIns="172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9pPr>
          </a:lstStyle>
          <a:p/>
        </p:txBody>
      </p:sp>
      <p:sp>
        <p:nvSpPr>
          <p:cNvPr id="18" name="Google Shape;18;p5"/>
          <p:cNvSpPr txBox="1"/>
          <p:nvPr>
            <p:ph idx="1" type="body"/>
          </p:nvPr>
        </p:nvSpPr>
        <p:spPr>
          <a:xfrm>
            <a:off x="420795" y="3380593"/>
            <a:ext cx="11502900" cy="10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172700" lIns="172700" spcFirstLastPara="1" rIns="172700" wrap="square" tIns="172700">
            <a:noAutofit/>
          </a:bodyPr>
          <a:lstStyle>
            <a:lvl1pPr indent="-444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Char char="●"/>
              <a:defRPr/>
            </a:lvl1pPr>
            <a:lvl2pPr indent="-393700" lvl="1" marL="9144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2pPr>
            <a:lvl3pPr indent="-393700" lvl="2" marL="13716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3pPr>
            <a:lvl4pPr indent="-393700" lvl="3" marL="18288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4pPr>
            <a:lvl5pPr indent="-393700" lvl="4" marL="22860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5pPr>
            <a:lvl6pPr indent="-393700" lvl="5" marL="27432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6pPr>
            <a:lvl7pPr indent="-393700" lvl="6" marL="32004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7pPr>
            <a:lvl8pPr indent="-393700" lvl="7" marL="36576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8pPr>
            <a:lvl9pPr indent="-393700" lvl="8" marL="411480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2600"/>
              <a:buChar char="■"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2" type="sldNum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2700" lIns="172700" spcFirstLastPara="1" rIns="172700" wrap="square" tIns="172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/>
          <p:nvPr>
            <p:ph type="title"/>
          </p:nvPr>
        </p:nvSpPr>
        <p:spPr>
          <a:xfrm>
            <a:off x="420795" y="1305407"/>
            <a:ext cx="11502900" cy="1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72700" lIns="172700" spcFirstLastPara="1" rIns="172700" wrap="square" tIns="172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9pPr>
          </a:lstStyle>
          <a:p/>
        </p:txBody>
      </p:sp>
      <p:sp>
        <p:nvSpPr>
          <p:cNvPr id="22" name="Google Shape;22;p6"/>
          <p:cNvSpPr txBox="1"/>
          <p:nvPr>
            <p:ph idx="1" type="body"/>
          </p:nvPr>
        </p:nvSpPr>
        <p:spPr>
          <a:xfrm>
            <a:off x="420795" y="3380593"/>
            <a:ext cx="5399700" cy="10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172700" lIns="172700" spcFirstLastPara="1" rIns="172700" wrap="square" tIns="172700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1pPr>
            <a:lvl2pPr indent="-374650" lvl="1" marL="9144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2pPr>
            <a:lvl3pPr indent="-374650" lvl="2" marL="13716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3pPr>
            <a:lvl4pPr indent="-374650" lvl="3" marL="18288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4pPr>
            <a:lvl5pPr indent="-374650" lvl="4" marL="22860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5pPr>
            <a:lvl6pPr indent="-374650" lvl="5" marL="27432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6pPr>
            <a:lvl7pPr indent="-374650" lvl="6" marL="32004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7pPr>
            <a:lvl8pPr indent="-374650" lvl="7" marL="36576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8pPr>
            <a:lvl9pPr indent="-374650" lvl="8" marL="411480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2300"/>
              <a:buChar char="■"/>
              <a:defRPr sz="2300"/>
            </a:lvl9pPr>
          </a:lstStyle>
          <a:p/>
        </p:txBody>
      </p:sp>
      <p:sp>
        <p:nvSpPr>
          <p:cNvPr id="23" name="Google Shape;23;p6"/>
          <p:cNvSpPr txBox="1"/>
          <p:nvPr>
            <p:ph idx="2" type="body"/>
          </p:nvPr>
        </p:nvSpPr>
        <p:spPr>
          <a:xfrm>
            <a:off x="6523740" y="3380593"/>
            <a:ext cx="5399700" cy="10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172700" lIns="172700" spcFirstLastPara="1" rIns="172700" wrap="square" tIns="172700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1pPr>
            <a:lvl2pPr indent="-374650" lvl="1" marL="9144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2pPr>
            <a:lvl3pPr indent="-374650" lvl="2" marL="13716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3pPr>
            <a:lvl4pPr indent="-374650" lvl="3" marL="18288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4pPr>
            <a:lvl5pPr indent="-374650" lvl="4" marL="22860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5pPr>
            <a:lvl6pPr indent="-374650" lvl="5" marL="27432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6pPr>
            <a:lvl7pPr indent="-374650" lvl="6" marL="32004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7pPr>
            <a:lvl8pPr indent="-374650" lvl="7" marL="36576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8pPr>
            <a:lvl9pPr indent="-374650" lvl="8" marL="411480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2300"/>
              <a:buChar char="■"/>
              <a:defRPr sz="2300"/>
            </a:lvl9pPr>
          </a:lstStyle>
          <a:p/>
        </p:txBody>
      </p:sp>
      <p:sp>
        <p:nvSpPr>
          <p:cNvPr id="24" name="Google Shape;24;p6"/>
          <p:cNvSpPr txBox="1"/>
          <p:nvPr>
            <p:ph idx="12" type="sldNum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2700" lIns="172700" spcFirstLastPara="1" rIns="172700" wrap="square" tIns="172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type="title"/>
          </p:nvPr>
        </p:nvSpPr>
        <p:spPr>
          <a:xfrm>
            <a:off x="420795" y="1305407"/>
            <a:ext cx="11502900" cy="1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72700" lIns="172700" spcFirstLastPara="1" rIns="172700" wrap="square" tIns="172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12" type="sldNum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2700" lIns="172700" spcFirstLastPara="1" rIns="172700" wrap="square" tIns="172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/>
          <p:nvPr>
            <p:ph type="title"/>
          </p:nvPr>
        </p:nvSpPr>
        <p:spPr>
          <a:xfrm>
            <a:off x="420795" y="1629760"/>
            <a:ext cx="3790800" cy="2216700"/>
          </a:xfrm>
          <a:prstGeom prst="rect">
            <a:avLst/>
          </a:prstGeom>
          <a:noFill/>
          <a:ln>
            <a:noFill/>
          </a:ln>
        </p:spPr>
        <p:txBody>
          <a:bodyPr anchorCtr="0" anchor="b" bIns="172700" lIns="172700" spcFirstLastPara="1" rIns="172700" wrap="square" tIns="172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30" name="Google Shape;30;p8"/>
          <p:cNvSpPr txBox="1"/>
          <p:nvPr>
            <p:ph idx="1" type="body"/>
          </p:nvPr>
        </p:nvSpPr>
        <p:spPr>
          <a:xfrm>
            <a:off x="420795" y="4076160"/>
            <a:ext cx="3790800" cy="93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72700" lIns="172700" spcFirstLastPara="1" rIns="172700" wrap="square" tIns="172700">
            <a:noAutofit/>
          </a:bodyPr>
          <a:lstStyle>
            <a:lvl1pPr indent="-3746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1pPr>
            <a:lvl2pPr indent="-374650" lvl="1" marL="9144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2pPr>
            <a:lvl3pPr indent="-374650" lvl="2" marL="13716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3pPr>
            <a:lvl4pPr indent="-374650" lvl="3" marL="18288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4pPr>
            <a:lvl5pPr indent="-374650" lvl="4" marL="22860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5pPr>
            <a:lvl6pPr indent="-374650" lvl="5" marL="27432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6pPr>
            <a:lvl7pPr indent="-374650" lvl="6" marL="32004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7pPr>
            <a:lvl8pPr indent="-374650" lvl="7" marL="36576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8pPr>
            <a:lvl9pPr indent="-374650" lvl="8" marL="411480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2300"/>
              <a:buChar char="■"/>
              <a:defRPr sz="2300"/>
            </a:lvl9pPr>
          </a:lstStyle>
          <a:p/>
        </p:txBody>
      </p:sp>
      <p:sp>
        <p:nvSpPr>
          <p:cNvPr id="31" name="Google Shape;31;p8"/>
          <p:cNvSpPr txBox="1"/>
          <p:nvPr>
            <p:ph idx="12" type="sldNum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2700" lIns="172700" spcFirstLastPara="1" rIns="172700" wrap="square" tIns="172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>
            <p:ph type="title"/>
          </p:nvPr>
        </p:nvSpPr>
        <p:spPr>
          <a:xfrm>
            <a:off x="661838" y="1320440"/>
            <a:ext cx="8596500" cy="119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2700" lIns="172700" spcFirstLastPara="1" rIns="172700" wrap="square" tIns="172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9pPr>
          </a:lstStyle>
          <a:p/>
        </p:txBody>
      </p:sp>
      <p:sp>
        <p:nvSpPr>
          <p:cNvPr id="34" name="Google Shape;34;p9"/>
          <p:cNvSpPr txBox="1"/>
          <p:nvPr>
            <p:ph idx="12" type="sldNum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2700" lIns="172700" spcFirstLastPara="1" rIns="172700" wrap="square" tIns="172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/>
          <p:nvPr/>
        </p:nvSpPr>
        <p:spPr>
          <a:xfrm>
            <a:off x="6172200" y="-367"/>
            <a:ext cx="6172200" cy="15087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72700" lIns="172700" spcFirstLastPara="1" rIns="172700" wrap="square" tIns="17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0"/>
          <p:cNvSpPr txBox="1"/>
          <p:nvPr>
            <p:ph type="title"/>
          </p:nvPr>
        </p:nvSpPr>
        <p:spPr>
          <a:xfrm>
            <a:off x="358425" y="3617313"/>
            <a:ext cx="5460900" cy="4348200"/>
          </a:xfrm>
          <a:prstGeom prst="rect">
            <a:avLst/>
          </a:prstGeom>
          <a:noFill/>
          <a:ln>
            <a:noFill/>
          </a:ln>
        </p:spPr>
        <p:txBody>
          <a:bodyPr anchorCtr="0" anchor="b" bIns="172700" lIns="172700" spcFirstLastPara="1" rIns="172700" wrap="square" tIns="172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9pPr>
          </a:lstStyle>
          <a:p/>
        </p:txBody>
      </p:sp>
      <p:sp>
        <p:nvSpPr>
          <p:cNvPr id="38" name="Google Shape;38;p10"/>
          <p:cNvSpPr txBox="1"/>
          <p:nvPr>
            <p:ph idx="1" type="subTitle"/>
          </p:nvPr>
        </p:nvSpPr>
        <p:spPr>
          <a:xfrm>
            <a:off x="358425" y="8222353"/>
            <a:ext cx="5460900" cy="3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72700" lIns="172700" spcFirstLastPara="1" rIns="172700" wrap="square" tIns="172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39" name="Google Shape;39;p10"/>
          <p:cNvSpPr txBox="1"/>
          <p:nvPr>
            <p:ph idx="2" type="body"/>
          </p:nvPr>
        </p:nvSpPr>
        <p:spPr>
          <a:xfrm>
            <a:off x="6668325" y="2123953"/>
            <a:ext cx="5180100" cy="1083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2700" lIns="172700" spcFirstLastPara="1" rIns="172700" wrap="square" tIns="172700">
            <a:noAutofit/>
          </a:bodyPr>
          <a:lstStyle>
            <a:lvl1pPr indent="-444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Char char="●"/>
              <a:defRPr/>
            </a:lvl1pPr>
            <a:lvl2pPr indent="-393700" lvl="1" marL="9144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2pPr>
            <a:lvl3pPr indent="-393700" lvl="2" marL="13716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3pPr>
            <a:lvl4pPr indent="-393700" lvl="3" marL="18288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4pPr>
            <a:lvl5pPr indent="-393700" lvl="4" marL="22860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5pPr>
            <a:lvl6pPr indent="-393700" lvl="5" marL="27432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6pPr>
            <a:lvl7pPr indent="-393700" lvl="6" marL="32004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7pPr>
            <a:lvl8pPr indent="-393700" lvl="7" marL="36576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8pPr>
            <a:lvl9pPr indent="-393700" lvl="8" marL="411480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2600"/>
              <a:buChar char="■"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12" type="sldNum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2700" lIns="172700" spcFirstLastPara="1" rIns="172700" wrap="square" tIns="172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idx="1" type="body"/>
          </p:nvPr>
        </p:nvSpPr>
        <p:spPr>
          <a:xfrm>
            <a:off x="420795" y="12409687"/>
            <a:ext cx="8098500" cy="177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2700" lIns="172700" spcFirstLastPara="1" rIns="172700" wrap="square" tIns="172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</a:lstStyle>
          <a:p/>
        </p:txBody>
      </p:sp>
      <p:sp>
        <p:nvSpPr>
          <p:cNvPr id="43" name="Google Shape;43;p11"/>
          <p:cNvSpPr txBox="1"/>
          <p:nvPr>
            <p:ph idx="12" type="sldNum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2700" lIns="172700" spcFirstLastPara="1" rIns="172700" wrap="square" tIns="172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/>
          <p:nvPr>
            <p:ph hasCustomPrompt="1" type="title"/>
          </p:nvPr>
        </p:nvSpPr>
        <p:spPr>
          <a:xfrm>
            <a:off x="420795" y="3244633"/>
            <a:ext cx="11502900" cy="5759400"/>
          </a:xfrm>
          <a:prstGeom prst="rect">
            <a:avLst/>
          </a:prstGeom>
          <a:noFill/>
          <a:ln>
            <a:noFill/>
          </a:ln>
        </p:spPr>
        <p:txBody>
          <a:bodyPr anchorCtr="0" anchor="b" bIns="172700" lIns="172700" spcFirstLastPara="1" rIns="172700" wrap="square" tIns="172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9pPr>
          </a:lstStyle>
          <a:p>
            <a:r>
              <a:t>xx%</a:t>
            </a:r>
          </a:p>
        </p:txBody>
      </p:sp>
      <p:sp>
        <p:nvSpPr>
          <p:cNvPr id="46" name="Google Shape;46;p12"/>
          <p:cNvSpPr txBox="1"/>
          <p:nvPr>
            <p:ph idx="1" type="body"/>
          </p:nvPr>
        </p:nvSpPr>
        <p:spPr>
          <a:xfrm>
            <a:off x="420795" y="9246527"/>
            <a:ext cx="11502900" cy="3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172700" lIns="172700" spcFirstLastPara="1" rIns="172700" wrap="square" tIns="172700">
            <a:noAutofit/>
          </a:bodyPr>
          <a:lstStyle>
            <a:lvl1pPr indent="-4445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Char char="●"/>
              <a:defRPr/>
            </a:lvl1pPr>
            <a:lvl2pPr indent="-393700" lvl="1" marL="9144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2pPr>
            <a:lvl3pPr indent="-393700" lvl="2" marL="13716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3pPr>
            <a:lvl4pPr indent="-393700" lvl="3" marL="18288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4pPr>
            <a:lvl5pPr indent="-393700" lvl="4" marL="22860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5pPr>
            <a:lvl6pPr indent="-393700" lvl="5" marL="27432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6pPr>
            <a:lvl7pPr indent="-393700" lvl="6" marL="32004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7pPr>
            <a:lvl8pPr indent="-393700" lvl="7" marL="36576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8pPr>
            <a:lvl9pPr indent="-393700" lvl="8" marL="4114800" algn="ctr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2600"/>
              <a:buChar char="■"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2" type="sldNum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2700" lIns="172700" spcFirstLastPara="1" rIns="172700" wrap="square" tIns="172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/>
          <p:nvPr>
            <p:ph idx="12" type="sldNum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2700" lIns="172700" spcFirstLastPara="1" rIns="172700" wrap="square" tIns="172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420795" y="1305407"/>
            <a:ext cx="11502900" cy="1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72700" lIns="172700" spcFirstLastPara="1" rIns="172700" wrap="square" tIns="172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420795" y="3380593"/>
            <a:ext cx="11502900" cy="10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172700" lIns="172700" spcFirstLastPara="1" rIns="172700" wrap="square" tIns="172700">
            <a:noAutofit/>
          </a:bodyPr>
          <a:lstStyle>
            <a:lvl1pPr indent="-444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Arial"/>
              <a:buChar char="●"/>
              <a:defRPr b="0" i="0" sz="3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93700" lvl="1" marL="914400" marR="0" rtl="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○"/>
              <a:defRPr b="0" i="0" sz="2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93700" lvl="2" marL="1371600" marR="0" rtl="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■"/>
              <a:defRPr b="0" i="0" sz="2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3700" lvl="3" marL="1828800" marR="0" rtl="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●"/>
              <a:defRPr b="0" i="0" sz="2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3700" lvl="4" marL="2286000" marR="0" rtl="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○"/>
              <a:defRPr b="0" i="0" sz="2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3700" lvl="5" marL="2743200" marR="0" rtl="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■"/>
              <a:defRPr b="0" i="0" sz="2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3700" lvl="6" marL="3200400" marR="0" rtl="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●"/>
              <a:defRPr b="0" i="0" sz="2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3700" lvl="7" marL="3657600" marR="0" rtl="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○"/>
              <a:defRPr b="0" i="0" sz="2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3700" lvl="8" marL="4114800" marR="0" rtl="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Clr>
                <a:schemeClr val="dk2"/>
              </a:buClr>
              <a:buSzPts val="2600"/>
              <a:buFont typeface="Arial"/>
              <a:buChar char="■"/>
              <a:defRPr b="0" i="0" sz="2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2" type="sldNum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2700" lIns="172700" spcFirstLastPara="1" rIns="172700" wrap="square" tIns="172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1ccc49f7bb7_0_0"/>
          <p:cNvSpPr txBox="1"/>
          <p:nvPr>
            <p:ph type="title"/>
          </p:nvPr>
        </p:nvSpPr>
        <p:spPr>
          <a:xfrm>
            <a:off x="420745" y="352907"/>
            <a:ext cx="11502900" cy="1680000"/>
          </a:xfrm>
          <a:prstGeom prst="rect">
            <a:avLst/>
          </a:prstGeom>
        </p:spPr>
        <p:txBody>
          <a:bodyPr anchorCtr="0" anchor="t" bIns="172700" lIns="172700" spcFirstLastPara="1" rIns="172700" wrap="square" tIns="172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Instructions</a:t>
            </a:r>
            <a:endParaRPr/>
          </a:p>
        </p:txBody>
      </p:sp>
      <p:sp>
        <p:nvSpPr>
          <p:cNvPr id="55" name="Google Shape;55;g1ccc49f7bb7_0_0"/>
          <p:cNvSpPr txBox="1"/>
          <p:nvPr>
            <p:ph idx="1" type="body"/>
          </p:nvPr>
        </p:nvSpPr>
        <p:spPr>
          <a:xfrm>
            <a:off x="420800" y="1771650"/>
            <a:ext cx="11502900" cy="11630700"/>
          </a:xfrm>
          <a:prstGeom prst="rect">
            <a:avLst/>
          </a:prstGeom>
        </p:spPr>
        <p:txBody>
          <a:bodyPr anchorCtr="0" anchor="t" bIns="172700" lIns="172700" spcFirstLastPara="1" rIns="172700" wrap="square" tIns="172700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VCEPs </a:t>
            </a:r>
            <a:r>
              <a:rPr lang="en" sz="2300"/>
              <a:t>should</a:t>
            </a:r>
            <a:r>
              <a:rPr lang="en" sz="2300"/>
              <a:t> modify the PVS1 flowchart for their specifications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Create a copy of the next slide to modify and attach to your specifications in the CSpec Editor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Review the boxes highlighted in yellow and modify the text if relevant: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Nonsense/Frameshift</a:t>
            </a:r>
            <a:endParaRPr sz="2300"/>
          </a:p>
          <a:p>
            <a:pPr indent="-374650" lvl="2" marL="1371600" rtl="0" algn="l">
              <a:spcBef>
                <a:spcPts val="0"/>
              </a:spcBef>
              <a:spcAft>
                <a:spcPts val="0"/>
              </a:spcAft>
              <a:buSzPts val="2300"/>
              <a:buChar char="■"/>
            </a:pPr>
            <a:r>
              <a:rPr lang="en" sz="2300"/>
              <a:t>Predicted to undergo NMD - </a:t>
            </a:r>
            <a:r>
              <a:rPr i="1" lang="en" sz="2300">
                <a:solidFill>
                  <a:srgbClr val="FF0000"/>
                </a:solidFill>
              </a:rPr>
              <a:t>Please provide most terminal codon/nucleotide that is expected to result in NMD (</a:t>
            </a:r>
            <a:r>
              <a:rPr i="1" lang="en" sz="2300">
                <a:solidFill>
                  <a:srgbClr val="FF0000"/>
                </a:solidFill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if NMD boundary not in penultimate exon please specify</a:t>
            </a:r>
            <a:r>
              <a:rPr i="1" lang="en" sz="2300">
                <a:solidFill>
                  <a:srgbClr val="FF0000"/>
                </a:solidFill>
              </a:rPr>
              <a:t>). </a:t>
            </a:r>
            <a:endParaRPr i="1" sz="2300">
              <a:solidFill>
                <a:srgbClr val="FF0000"/>
              </a:solidFill>
            </a:endParaRPr>
          </a:p>
          <a:p>
            <a:pPr indent="-374650" lvl="3" marL="18288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Exon is present in biologically-relevant transcript(s) - </a:t>
            </a:r>
            <a:r>
              <a:rPr i="1" lang="en" sz="2300">
                <a:solidFill>
                  <a:srgbClr val="FF0000"/>
                </a:solidFill>
              </a:rPr>
              <a:t>Please designate relevant transcript</a:t>
            </a:r>
            <a:endParaRPr i="1" sz="2300">
              <a:solidFill>
                <a:srgbClr val="FF0000"/>
              </a:solidFill>
            </a:endParaRPr>
          </a:p>
          <a:p>
            <a:pPr indent="-374650" lvl="2" marL="1371600" rtl="0" algn="l">
              <a:spcBef>
                <a:spcPts val="0"/>
              </a:spcBef>
              <a:spcAft>
                <a:spcPts val="0"/>
              </a:spcAft>
              <a:buSzPts val="2300"/>
              <a:buChar char="■"/>
            </a:pPr>
            <a:r>
              <a:rPr lang="en" sz="2300"/>
              <a:t>Not predicted to undergo NMD</a:t>
            </a:r>
            <a:endParaRPr sz="2300"/>
          </a:p>
          <a:p>
            <a:pPr indent="-374650" lvl="3" marL="18288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Truncated/altered region is critical to protein function </a:t>
            </a:r>
            <a:r>
              <a:rPr i="1" lang="en" sz="2300"/>
              <a:t>- </a:t>
            </a:r>
            <a:r>
              <a:rPr i="1" lang="en" sz="2300">
                <a:solidFill>
                  <a:srgbClr val="FF0000"/>
                </a:solidFill>
              </a:rPr>
              <a:t>If relevant please specify regions</a:t>
            </a:r>
            <a:endParaRPr i="1"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GT--AG 1,2 splice sites (</a:t>
            </a:r>
            <a:r>
              <a:rPr i="1" lang="en" sz="2300">
                <a:solidFill>
                  <a:srgbClr val="FF0000"/>
                </a:solidFill>
                <a:extLst>
                  <a:ext uri="http://customooxmlschemas.google.com/">
                    <go:slidesCustomData xmlns:go="http://customooxmlschemas.google.com/" textRoundtripDataId="1"/>
                  </a:ext>
                </a:extLst>
              </a:rPr>
              <a:t>if AT–AC (U2) splice sites exist please specify</a:t>
            </a:r>
            <a:r>
              <a:rPr i="1" lang="en" sz="2300">
                <a:solidFill>
                  <a:srgbClr val="FF0000"/>
                </a:solidFill>
              </a:rPr>
              <a:t>)</a:t>
            </a:r>
            <a:endParaRPr sz="2300"/>
          </a:p>
          <a:p>
            <a:pPr indent="-374650" lvl="2" marL="1371600" rtl="0" algn="l">
              <a:spcBef>
                <a:spcPts val="0"/>
              </a:spcBef>
              <a:spcAft>
                <a:spcPts val="0"/>
              </a:spcAft>
              <a:buSzPts val="2300"/>
              <a:buChar char="■"/>
            </a:pPr>
            <a:r>
              <a:rPr lang="en" sz="2300"/>
              <a:t>Exon skipping or use of a cryptic splice site disrupts reading frame and is NOT predicted to undergo NMD - </a:t>
            </a:r>
            <a:r>
              <a:rPr i="1" lang="en" sz="2300">
                <a:solidFill>
                  <a:srgbClr val="FF0000"/>
                </a:solidFill>
              </a:rPr>
              <a:t>Please note any exons that are not expected to undergo NMD</a:t>
            </a:r>
            <a:endParaRPr i="1" sz="2300">
              <a:solidFill>
                <a:srgbClr val="FF0000"/>
              </a:solidFill>
            </a:endParaRPr>
          </a:p>
          <a:p>
            <a:pPr indent="-374650" lvl="3" marL="18288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Truncated/altered region is critical to protein function - </a:t>
            </a:r>
            <a:r>
              <a:rPr i="1" lang="en" sz="2300">
                <a:solidFill>
                  <a:srgbClr val="FF0000"/>
                </a:solidFill>
              </a:rPr>
              <a:t>If relevant please specify regions</a:t>
            </a:r>
            <a:endParaRPr i="1" sz="2300">
              <a:solidFill>
                <a:srgbClr val="FF0000"/>
              </a:solidFill>
            </a:endParaRPr>
          </a:p>
          <a:p>
            <a:pPr indent="-374650" lvl="2" marL="1371600" rtl="0" algn="l">
              <a:spcBef>
                <a:spcPts val="0"/>
              </a:spcBef>
              <a:spcAft>
                <a:spcPts val="0"/>
              </a:spcAft>
              <a:buSzPts val="2300"/>
              <a:buChar char="■"/>
            </a:pPr>
            <a:r>
              <a:rPr lang="en" sz="2300"/>
              <a:t>Exon skipping or use of a cryptic splice site preserves reading frame - </a:t>
            </a:r>
            <a:r>
              <a:rPr i="1" lang="en" sz="2300">
                <a:solidFill>
                  <a:srgbClr val="FF0000"/>
                </a:solidFill>
              </a:rPr>
              <a:t>Please note exons that are in-frame</a:t>
            </a:r>
            <a:endParaRPr i="1" sz="2300">
              <a:solidFill>
                <a:srgbClr val="FF0000"/>
              </a:solidFill>
            </a:endParaRPr>
          </a:p>
          <a:p>
            <a:pPr indent="-374650" lvl="3" marL="18288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Truncated/altered region is critical to protein function -</a:t>
            </a:r>
            <a:r>
              <a:rPr i="1" lang="en" sz="2300">
                <a:solidFill>
                  <a:srgbClr val="FF0000"/>
                </a:solidFill>
              </a:rPr>
              <a:t> If relevant please specify regions</a:t>
            </a:r>
            <a:endParaRPr i="1" sz="2300">
              <a:solidFill>
                <a:srgbClr val="FF0000"/>
              </a:solidFill>
            </a:endParaRPr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Deletion (Single exon to full gene)</a:t>
            </a:r>
            <a:endParaRPr sz="2300"/>
          </a:p>
          <a:p>
            <a:pPr indent="-374650" lvl="2" marL="1371600" rtl="0" algn="l">
              <a:spcBef>
                <a:spcPts val="0"/>
              </a:spcBef>
              <a:spcAft>
                <a:spcPts val="0"/>
              </a:spcAft>
              <a:buSzPts val="2300"/>
              <a:buChar char="■"/>
            </a:pPr>
            <a:r>
              <a:rPr lang="en" sz="2300"/>
              <a:t>Single to multi exon deletion – Preserves reading frame</a:t>
            </a:r>
            <a:endParaRPr sz="2300"/>
          </a:p>
          <a:p>
            <a:pPr indent="-374650" lvl="3" marL="18288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>
                <a:extLst>
                  <a:ext uri="http://customooxmlschemas.google.com/">
                    <go:slidesCustomData xmlns:go="http://customooxmlschemas.google.com/" textRoundtripDataId="2"/>
                  </a:ext>
                </a:extLst>
              </a:rPr>
              <a:t>Truncated/altered region is critical to protein function - </a:t>
            </a:r>
            <a:r>
              <a:rPr i="1" lang="en" sz="2300">
                <a:solidFill>
                  <a:srgbClr val="FF0000"/>
                </a:solidFill>
                <a:extLst>
                  <a:ext uri="http://customooxmlschemas.google.com/">
                    <go:slidesCustomData xmlns:go="http://customooxmlschemas.google.com/" textRoundtripDataId="3"/>
                  </a:ext>
                </a:extLst>
              </a:rPr>
              <a:t>If relevant please specify regions</a:t>
            </a:r>
            <a:endParaRPr i="1" sz="2300">
              <a:solidFill>
                <a:srgbClr val="FF0000"/>
              </a:solidFill>
            </a:endParaRPr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Initiation Codon - </a:t>
            </a:r>
            <a:r>
              <a:rPr i="1" lang="en" sz="2300">
                <a:solidFill>
                  <a:srgbClr val="FF0000"/>
                </a:solidFill>
              </a:rPr>
              <a:t>Please note alt starts if known</a:t>
            </a:r>
            <a:endParaRPr i="1" sz="23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"/>
          <p:cNvSpPr txBox="1"/>
          <p:nvPr/>
        </p:nvSpPr>
        <p:spPr>
          <a:xfrm>
            <a:off x="80325" y="225673"/>
            <a:ext cx="1105800" cy="2819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Nonsense or Frameshift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"/>
          <p:cNvSpPr/>
          <p:nvPr/>
        </p:nvSpPr>
        <p:spPr>
          <a:xfrm>
            <a:off x="1664575" y="216325"/>
            <a:ext cx="2374200" cy="705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Predicted to undergo NMD </a:t>
            </a:r>
            <a:r>
              <a:rPr b="0" baseline="30000" i="0" lang="en" sz="12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FF0000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(Please provide most terminal codon/nucleotide that is expected to result in NMD)</a:t>
            </a:r>
            <a:endParaRPr b="0" i="0" sz="1400" u="none" cap="none" strike="noStrike">
              <a:solidFill>
                <a:srgbClr val="FF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"/>
          <p:cNvSpPr/>
          <p:nvPr/>
        </p:nvSpPr>
        <p:spPr>
          <a:xfrm>
            <a:off x="1664575" y="1464775"/>
            <a:ext cx="2374200" cy="958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Not predicted to undergo NMD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baseline="30000" i="0" lang="en" sz="12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b="0" i="0" sz="1400" u="none" cap="none" strike="noStrik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"/>
          <p:cNvSpPr/>
          <p:nvPr/>
        </p:nvSpPr>
        <p:spPr>
          <a:xfrm>
            <a:off x="4536350" y="192700"/>
            <a:ext cx="5868000" cy="276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Exon is present in biologically-relevant transcript(s) </a:t>
            </a:r>
            <a:r>
              <a:rPr b="0" i="0" lang="en" sz="1200" u="none" cap="none" strike="noStrike">
                <a:solidFill>
                  <a:srgbClr val="FF0000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(Please designate relevant transcript)</a:t>
            </a:r>
            <a:endParaRPr b="0" i="0" sz="1400" u="none" cap="none" strike="noStrik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"/>
          <p:cNvSpPr/>
          <p:nvPr/>
        </p:nvSpPr>
        <p:spPr>
          <a:xfrm>
            <a:off x="4536275" y="621275"/>
            <a:ext cx="5868000" cy="276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absent from biologically-relevant transcript(s)</a:t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" name="Google Shape;65;p1"/>
          <p:cNvSpPr/>
          <p:nvPr/>
        </p:nvSpPr>
        <p:spPr>
          <a:xfrm>
            <a:off x="10945225" y="192700"/>
            <a:ext cx="1281000" cy="276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"/>
          <p:cNvSpPr/>
          <p:nvPr/>
        </p:nvSpPr>
        <p:spPr>
          <a:xfrm>
            <a:off x="10945225" y="621275"/>
            <a:ext cx="1281000" cy="276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"/>
          <p:cNvSpPr/>
          <p:nvPr/>
        </p:nvSpPr>
        <p:spPr>
          <a:xfrm>
            <a:off x="4529000" y="1112700"/>
            <a:ext cx="5896500" cy="276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 </a:t>
            </a:r>
            <a:r>
              <a:rPr b="0" baseline="30000" i="0" lang="en" sz="12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0" i="0" lang="en" sz="12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" sz="1200" u="none" cap="none" strike="noStrike">
                <a:solidFill>
                  <a:srgbClr val="FF0000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(If relevant please specify regions)</a:t>
            </a:r>
            <a:endParaRPr b="0" i="0" sz="1200" u="none" cap="none" strike="noStrike">
              <a:solidFill>
                <a:srgbClr val="000000"/>
              </a:solidFill>
              <a:highlight>
                <a:srgbClr val="FFFF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1"/>
          <p:cNvSpPr/>
          <p:nvPr/>
        </p:nvSpPr>
        <p:spPr>
          <a:xfrm>
            <a:off x="4557575" y="1487150"/>
            <a:ext cx="1080900" cy="1409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"/>
          <p:cNvSpPr/>
          <p:nvPr/>
        </p:nvSpPr>
        <p:spPr>
          <a:xfrm>
            <a:off x="6201875" y="1497075"/>
            <a:ext cx="4234500" cy="461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frequent in the general population and/or exon is absent from biologically-relevant transcript(s)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"/>
          <p:cNvSpPr/>
          <p:nvPr/>
        </p:nvSpPr>
        <p:spPr>
          <a:xfrm>
            <a:off x="10945225" y="1112700"/>
            <a:ext cx="1281000" cy="276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"/>
          <p:cNvSpPr/>
          <p:nvPr/>
        </p:nvSpPr>
        <p:spPr>
          <a:xfrm>
            <a:off x="10945225" y="1542225"/>
            <a:ext cx="1281000" cy="371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"/>
          <p:cNvSpPr/>
          <p:nvPr/>
        </p:nvSpPr>
        <p:spPr>
          <a:xfrm>
            <a:off x="10945225" y="2130450"/>
            <a:ext cx="1281000" cy="324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"/>
          <p:cNvSpPr/>
          <p:nvPr/>
        </p:nvSpPr>
        <p:spPr>
          <a:xfrm>
            <a:off x="10945225" y="2633075"/>
            <a:ext cx="1281000" cy="371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"/>
          <p:cNvSpPr/>
          <p:nvPr/>
        </p:nvSpPr>
        <p:spPr>
          <a:xfrm>
            <a:off x="6201875" y="2066250"/>
            <a:ext cx="2618100" cy="978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not frequent in the general population and exon is present in biologically-relevant transcript(s)</a:t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" name="Google Shape;75;p1"/>
          <p:cNvSpPr/>
          <p:nvPr/>
        </p:nvSpPr>
        <p:spPr>
          <a:xfrm>
            <a:off x="9204900" y="2066250"/>
            <a:ext cx="1231500" cy="452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&gt;10% of protein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"/>
          <p:cNvSpPr/>
          <p:nvPr/>
        </p:nvSpPr>
        <p:spPr>
          <a:xfrm>
            <a:off x="9204825" y="2592425"/>
            <a:ext cx="1231500" cy="452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&lt;10% of protein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" name="Google Shape;77;p1"/>
          <p:cNvCxnSpPr>
            <a:stCxn id="74" idx="3"/>
            <a:endCxn id="75" idx="1"/>
          </p:cNvCxnSpPr>
          <p:nvPr/>
        </p:nvCxnSpPr>
        <p:spPr>
          <a:xfrm flipH="1" rot="10800000">
            <a:off x="8819975" y="2292600"/>
            <a:ext cx="384900" cy="26310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8" name="Google Shape;78;p1"/>
          <p:cNvCxnSpPr>
            <a:stCxn id="74" idx="3"/>
            <a:endCxn id="76" idx="1"/>
          </p:cNvCxnSpPr>
          <p:nvPr/>
        </p:nvCxnSpPr>
        <p:spPr>
          <a:xfrm>
            <a:off x="8819975" y="2555700"/>
            <a:ext cx="384900" cy="26310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9" name="Google Shape;79;p1"/>
          <p:cNvCxnSpPr>
            <a:stCxn id="60" idx="3"/>
            <a:endCxn id="61" idx="1"/>
          </p:cNvCxnSpPr>
          <p:nvPr/>
        </p:nvCxnSpPr>
        <p:spPr>
          <a:xfrm flipH="1" rot="10800000">
            <a:off x="1186125" y="569023"/>
            <a:ext cx="478500" cy="106650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0" name="Google Shape;80;p1"/>
          <p:cNvCxnSpPr>
            <a:stCxn id="60" idx="3"/>
            <a:endCxn id="62" idx="1"/>
          </p:cNvCxnSpPr>
          <p:nvPr/>
        </p:nvCxnSpPr>
        <p:spPr>
          <a:xfrm>
            <a:off x="1186125" y="1635523"/>
            <a:ext cx="478500" cy="30870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1" name="Google Shape;81;p1"/>
          <p:cNvCxnSpPr>
            <a:stCxn id="61" idx="3"/>
            <a:endCxn id="63" idx="1"/>
          </p:cNvCxnSpPr>
          <p:nvPr/>
        </p:nvCxnSpPr>
        <p:spPr>
          <a:xfrm flipH="1" rot="10800000">
            <a:off x="4038775" y="331225"/>
            <a:ext cx="497700" cy="23790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2" name="Google Shape;82;p1"/>
          <p:cNvCxnSpPr>
            <a:stCxn id="61" idx="3"/>
            <a:endCxn id="64" idx="1"/>
          </p:cNvCxnSpPr>
          <p:nvPr/>
        </p:nvCxnSpPr>
        <p:spPr>
          <a:xfrm>
            <a:off x="4038775" y="569125"/>
            <a:ext cx="497400" cy="19050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3" name="Google Shape;83;p1"/>
          <p:cNvCxnSpPr>
            <a:stCxn id="62" idx="3"/>
            <a:endCxn id="67" idx="1"/>
          </p:cNvCxnSpPr>
          <p:nvPr/>
        </p:nvCxnSpPr>
        <p:spPr>
          <a:xfrm flipH="1" rot="10800000">
            <a:off x="4038775" y="1251175"/>
            <a:ext cx="490200" cy="69300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4" name="Google Shape;84;p1"/>
          <p:cNvCxnSpPr>
            <a:stCxn id="62" idx="3"/>
            <a:endCxn id="68" idx="1"/>
          </p:cNvCxnSpPr>
          <p:nvPr/>
        </p:nvCxnSpPr>
        <p:spPr>
          <a:xfrm>
            <a:off x="4038775" y="1944175"/>
            <a:ext cx="518700" cy="24750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5" name="Google Shape;85;p1"/>
          <p:cNvCxnSpPr>
            <a:stCxn id="68" idx="3"/>
            <a:endCxn id="69" idx="1"/>
          </p:cNvCxnSpPr>
          <p:nvPr/>
        </p:nvCxnSpPr>
        <p:spPr>
          <a:xfrm flipH="1" rot="10800000">
            <a:off x="5638475" y="1727900"/>
            <a:ext cx="563400" cy="46380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6" name="Google Shape;86;p1"/>
          <p:cNvCxnSpPr>
            <a:stCxn id="68" idx="3"/>
            <a:endCxn id="74" idx="1"/>
          </p:cNvCxnSpPr>
          <p:nvPr/>
        </p:nvCxnSpPr>
        <p:spPr>
          <a:xfrm>
            <a:off x="5638475" y="2191700"/>
            <a:ext cx="563400" cy="36390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7" name="Google Shape;87;p1"/>
          <p:cNvSpPr txBox="1"/>
          <p:nvPr/>
        </p:nvSpPr>
        <p:spPr>
          <a:xfrm>
            <a:off x="80325" y="3209450"/>
            <a:ext cx="1105800" cy="4800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GT--AG</a:t>
            </a:r>
            <a:endParaRPr b="1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1,2 splice </a:t>
            </a:r>
            <a:endParaRPr b="1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sites </a:t>
            </a:r>
            <a:r>
              <a:rPr b="1" baseline="3000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b="1" baseline="3000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1664575" y="3308700"/>
            <a:ext cx="2374200" cy="802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skipping or use of a cryptic splice site disrupts reading frame and is predicted to undergo NMD</a:t>
            </a:r>
            <a:r>
              <a:rPr b="0" i="0" lang="e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baseline="30000" i="0" lang="e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1654125" y="6290300"/>
            <a:ext cx="2374200" cy="1558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Exon skipping or use of a cryptic splice site preserves reading frame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FF0000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(Please note exons that are in-frame)</a:t>
            </a:r>
            <a:endParaRPr b="0" i="0" sz="1400" u="none" cap="none" strike="noStrike">
              <a:solidFill>
                <a:srgbClr val="FF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4536350" y="3232500"/>
            <a:ext cx="5868000" cy="276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present in biologically-relevant transcript(s)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4507775" y="4114825"/>
            <a:ext cx="5896500" cy="276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 </a:t>
            </a:r>
            <a:r>
              <a:rPr b="0" baseline="30000" i="0" lang="en" sz="12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0" i="0" lang="en" sz="12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" sz="1200" u="none" cap="none" strike="noStrike">
                <a:solidFill>
                  <a:srgbClr val="FF0000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(If relevant please specify regions)</a:t>
            </a:r>
            <a:endParaRPr b="0" i="0" sz="1200" u="none" cap="none" strike="noStrike">
              <a:solidFill>
                <a:srgbClr val="FF0000"/>
              </a:solidFill>
              <a:highlight>
                <a:srgbClr val="FFFF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4536275" y="3661075"/>
            <a:ext cx="5868000" cy="276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absent from biologically-relevant transcript(s)</a:t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4536350" y="4489275"/>
            <a:ext cx="1080900" cy="1558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6180650" y="4499200"/>
            <a:ext cx="4234500" cy="461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frequent in the general population and/or exon is absent from biologically-relevant transcript(s)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6180650" y="5068725"/>
            <a:ext cx="2618100" cy="978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not frequent in the general population and exon is present in biologically-relevant transcript(s)</a:t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9183675" y="5068725"/>
            <a:ext cx="1231500" cy="452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&gt;10% of protein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4533750" y="7752350"/>
            <a:ext cx="5907300" cy="276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 </a:t>
            </a:r>
            <a:r>
              <a:rPr b="0" baseline="30000" i="0" lang="en" sz="12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b="0" i="0" lang="en" sz="1200" u="none" cap="none" strike="noStrike">
                <a:solidFill>
                  <a:srgbClr val="FF0000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(If relevant please specify regions)</a:t>
            </a:r>
            <a:endParaRPr b="0" i="0" sz="1200" u="none" cap="none" strike="noStrike">
              <a:solidFill>
                <a:srgbClr val="000000"/>
              </a:solidFill>
              <a:highlight>
                <a:srgbClr val="FFFF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1"/>
          <p:cNvSpPr/>
          <p:nvPr/>
        </p:nvSpPr>
        <p:spPr>
          <a:xfrm>
            <a:off x="10945225" y="3232500"/>
            <a:ext cx="1281000" cy="276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"/>
          <p:cNvSpPr/>
          <p:nvPr/>
        </p:nvSpPr>
        <p:spPr>
          <a:xfrm>
            <a:off x="10945225" y="3661075"/>
            <a:ext cx="1281000" cy="276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"/>
          <p:cNvSpPr/>
          <p:nvPr/>
        </p:nvSpPr>
        <p:spPr>
          <a:xfrm>
            <a:off x="10945225" y="4114825"/>
            <a:ext cx="1281000" cy="276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"/>
          <p:cNvSpPr/>
          <p:nvPr/>
        </p:nvSpPr>
        <p:spPr>
          <a:xfrm>
            <a:off x="10945225" y="4544350"/>
            <a:ext cx="1281000" cy="371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/>
          <p:nvPr/>
        </p:nvSpPr>
        <p:spPr>
          <a:xfrm>
            <a:off x="10945225" y="5132925"/>
            <a:ext cx="1281000" cy="324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"/>
          <p:cNvSpPr/>
          <p:nvPr/>
        </p:nvSpPr>
        <p:spPr>
          <a:xfrm>
            <a:off x="10945225" y="5635550"/>
            <a:ext cx="1281000" cy="371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"/>
          <p:cNvSpPr/>
          <p:nvPr/>
        </p:nvSpPr>
        <p:spPr>
          <a:xfrm>
            <a:off x="10945225" y="7759100"/>
            <a:ext cx="1281000" cy="276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/>
          <p:nvPr/>
        </p:nvSpPr>
        <p:spPr>
          <a:xfrm>
            <a:off x="9183600" y="5594900"/>
            <a:ext cx="1231500" cy="452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&lt;10% of protein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/>
          <p:nvPr/>
        </p:nvSpPr>
        <p:spPr>
          <a:xfrm>
            <a:off x="1643625" y="4315725"/>
            <a:ext cx="2395200" cy="1612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Exon skipping or use of a cryptic splice site disrupts reading frame and is </a:t>
            </a:r>
            <a:r>
              <a:rPr b="1" i="0" lang="en" sz="12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NOT</a:t>
            </a:r>
            <a:r>
              <a:rPr b="0" i="0" lang="en" sz="12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predicted to undergo NMD</a:t>
            </a: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baseline="30000" i="0" lang="en" sz="12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FF0000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(Please note any exons that are not expected to undergo NMD)</a:t>
            </a:r>
            <a:endParaRPr b="0" i="0" sz="1200" u="none" cap="none" strike="noStrike">
              <a:solidFill>
                <a:srgbClr val="FF0000"/>
              </a:solidFill>
              <a:highlight>
                <a:srgbClr val="FFFF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7" name="Google Shape;107;p1"/>
          <p:cNvCxnSpPr>
            <a:stCxn id="87" idx="3"/>
            <a:endCxn id="88" idx="1"/>
          </p:cNvCxnSpPr>
          <p:nvPr/>
        </p:nvCxnSpPr>
        <p:spPr>
          <a:xfrm flipH="1" rot="10800000">
            <a:off x="1186125" y="3710000"/>
            <a:ext cx="478500" cy="189960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8" name="Google Shape;108;p1"/>
          <p:cNvCxnSpPr>
            <a:stCxn id="87" idx="3"/>
            <a:endCxn id="106" idx="1"/>
          </p:cNvCxnSpPr>
          <p:nvPr/>
        </p:nvCxnSpPr>
        <p:spPr>
          <a:xfrm flipH="1" rot="10800000">
            <a:off x="1186125" y="5121800"/>
            <a:ext cx="457500" cy="48780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9" name="Google Shape;109;p1"/>
          <p:cNvCxnSpPr>
            <a:stCxn id="87" idx="3"/>
            <a:endCxn id="89" idx="1"/>
          </p:cNvCxnSpPr>
          <p:nvPr/>
        </p:nvCxnSpPr>
        <p:spPr>
          <a:xfrm>
            <a:off x="1186125" y="5609600"/>
            <a:ext cx="468000" cy="145980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0" name="Google Shape;110;p1"/>
          <p:cNvCxnSpPr>
            <a:stCxn id="88" idx="3"/>
            <a:endCxn id="90" idx="1"/>
          </p:cNvCxnSpPr>
          <p:nvPr/>
        </p:nvCxnSpPr>
        <p:spPr>
          <a:xfrm flipH="1" rot="10800000">
            <a:off x="4038775" y="3370950"/>
            <a:ext cx="497700" cy="33900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1" name="Google Shape;111;p1"/>
          <p:cNvCxnSpPr>
            <a:stCxn id="88" idx="3"/>
            <a:endCxn id="92" idx="1"/>
          </p:cNvCxnSpPr>
          <p:nvPr/>
        </p:nvCxnSpPr>
        <p:spPr>
          <a:xfrm>
            <a:off x="4038775" y="3709950"/>
            <a:ext cx="497400" cy="8970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2" name="Google Shape;112;p1"/>
          <p:cNvCxnSpPr>
            <a:stCxn id="106" idx="3"/>
            <a:endCxn id="91" idx="1"/>
          </p:cNvCxnSpPr>
          <p:nvPr/>
        </p:nvCxnSpPr>
        <p:spPr>
          <a:xfrm flipH="1" rot="10800000">
            <a:off x="4038825" y="4253325"/>
            <a:ext cx="468900" cy="86850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3" name="Google Shape;113;p1"/>
          <p:cNvCxnSpPr>
            <a:stCxn id="106" idx="3"/>
            <a:endCxn id="93" idx="1"/>
          </p:cNvCxnSpPr>
          <p:nvPr/>
        </p:nvCxnSpPr>
        <p:spPr>
          <a:xfrm>
            <a:off x="4038825" y="5121825"/>
            <a:ext cx="497400" cy="14670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4" name="Google Shape;114;p1"/>
          <p:cNvCxnSpPr>
            <a:stCxn id="93" idx="3"/>
            <a:endCxn id="94" idx="1"/>
          </p:cNvCxnSpPr>
          <p:nvPr/>
        </p:nvCxnSpPr>
        <p:spPr>
          <a:xfrm flipH="1" rot="10800000">
            <a:off x="5617250" y="4730175"/>
            <a:ext cx="563400" cy="53820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5" name="Google Shape;115;p1"/>
          <p:cNvCxnSpPr>
            <a:stCxn id="93" idx="3"/>
            <a:endCxn id="95" idx="1"/>
          </p:cNvCxnSpPr>
          <p:nvPr/>
        </p:nvCxnSpPr>
        <p:spPr>
          <a:xfrm>
            <a:off x="5617250" y="5268375"/>
            <a:ext cx="563400" cy="28980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6" name="Google Shape;116;p1"/>
          <p:cNvCxnSpPr>
            <a:stCxn id="95" idx="3"/>
            <a:endCxn id="96" idx="1"/>
          </p:cNvCxnSpPr>
          <p:nvPr/>
        </p:nvCxnSpPr>
        <p:spPr>
          <a:xfrm flipH="1" rot="10800000">
            <a:off x="8798750" y="5295075"/>
            <a:ext cx="384900" cy="26310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7" name="Google Shape;117;p1"/>
          <p:cNvCxnSpPr>
            <a:stCxn id="95" idx="3"/>
            <a:endCxn id="105" idx="1"/>
          </p:cNvCxnSpPr>
          <p:nvPr/>
        </p:nvCxnSpPr>
        <p:spPr>
          <a:xfrm>
            <a:off x="8798750" y="5558175"/>
            <a:ext cx="384900" cy="26310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8" name="Google Shape;118;p1"/>
          <p:cNvCxnSpPr>
            <a:stCxn id="63" idx="3"/>
            <a:endCxn id="65" idx="1"/>
          </p:cNvCxnSpPr>
          <p:nvPr/>
        </p:nvCxnSpPr>
        <p:spPr>
          <a:xfrm>
            <a:off x="10404350" y="331150"/>
            <a:ext cx="540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9" name="Google Shape;119;p1"/>
          <p:cNvCxnSpPr>
            <a:stCxn id="64" idx="3"/>
            <a:endCxn id="66" idx="1"/>
          </p:cNvCxnSpPr>
          <p:nvPr/>
        </p:nvCxnSpPr>
        <p:spPr>
          <a:xfrm>
            <a:off x="10404275" y="759725"/>
            <a:ext cx="540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0" name="Google Shape;120;p1"/>
          <p:cNvCxnSpPr>
            <a:stCxn id="67" idx="3"/>
            <a:endCxn id="70" idx="1"/>
          </p:cNvCxnSpPr>
          <p:nvPr/>
        </p:nvCxnSpPr>
        <p:spPr>
          <a:xfrm>
            <a:off x="10425500" y="1251150"/>
            <a:ext cx="5196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1" name="Google Shape;121;p1"/>
          <p:cNvCxnSpPr>
            <a:stCxn id="69" idx="3"/>
            <a:endCxn id="71" idx="1"/>
          </p:cNvCxnSpPr>
          <p:nvPr/>
        </p:nvCxnSpPr>
        <p:spPr>
          <a:xfrm>
            <a:off x="10436375" y="1727925"/>
            <a:ext cx="5088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2" name="Google Shape;122;p1"/>
          <p:cNvCxnSpPr>
            <a:stCxn id="75" idx="3"/>
            <a:endCxn id="72" idx="1"/>
          </p:cNvCxnSpPr>
          <p:nvPr/>
        </p:nvCxnSpPr>
        <p:spPr>
          <a:xfrm>
            <a:off x="10436400" y="2292600"/>
            <a:ext cx="5088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3" name="Google Shape;123;p1"/>
          <p:cNvCxnSpPr>
            <a:stCxn id="76" idx="3"/>
            <a:endCxn id="73" idx="1"/>
          </p:cNvCxnSpPr>
          <p:nvPr/>
        </p:nvCxnSpPr>
        <p:spPr>
          <a:xfrm>
            <a:off x="10436325" y="2818775"/>
            <a:ext cx="5088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4" name="Google Shape;124;p1"/>
          <p:cNvCxnSpPr>
            <a:stCxn id="90" idx="3"/>
            <a:endCxn id="98" idx="1"/>
          </p:cNvCxnSpPr>
          <p:nvPr/>
        </p:nvCxnSpPr>
        <p:spPr>
          <a:xfrm>
            <a:off x="10404350" y="3370950"/>
            <a:ext cx="540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5" name="Google Shape;125;p1"/>
          <p:cNvCxnSpPr>
            <a:stCxn id="92" idx="3"/>
            <a:endCxn id="99" idx="1"/>
          </p:cNvCxnSpPr>
          <p:nvPr/>
        </p:nvCxnSpPr>
        <p:spPr>
          <a:xfrm>
            <a:off x="10404275" y="3799525"/>
            <a:ext cx="540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6" name="Google Shape;126;p1"/>
          <p:cNvCxnSpPr>
            <a:stCxn id="91" idx="3"/>
            <a:endCxn id="100" idx="1"/>
          </p:cNvCxnSpPr>
          <p:nvPr/>
        </p:nvCxnSpPr>
        <p:spPr>
          <a:xfrm>
            <a:off x="10404275" y="4253275"/>
            <a:ext cx="540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7" name="Google Shape;127;p1"/>
          <p:cNvCxnSpPr>
            <a:stCxn id="94" idx="3"/>
            <a:endCxn id="101" idx="1"/>
          </p:cNvCxnSpPr>
          <p:nvPr/>
        </p:nvCxnSpPr>
        <p:spPr>
          <a:xfrm>
            <a:off x="10415150" y="4730050"/>
            <a:ext cx="5301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8" name="Google Shape;128;p1"/>
          <p:cNvCxnSpPr>
            <a:stCxn id="96" idx="3"/>
            <a:endCxn id="102" idx="1"/>
          </p:cNvCxnSpPr>
          <p:nvPr/>
        </p:nvCxnSpPr>
        <p:spPr>
          <a:xfrm>
            <a:off x="10415175" y="5295075"/>
            <a:ext cx="5301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9" name="Google Shape;129;p1"/>
          <p:cNvCxnSpPr>
            <a:stCxn id="105" idx="3"/>
            <a:endCxn id="103" idx="1"/>
          </p:cNvCxnSpPr>
          <p:nvPr/>
        </p:nvCxnSpPr>
        <p:spPr>
          <a:xfrm>
            <a:off x="10415100" y="5821250"/>
            <a:ext cx="5301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0" name="Google Shape;130;p1"/>
          <p:cNvCxnSpPr>
            <a:stCxn id="97" idx="3"/>
            <a:endCxn id="104" idx="1"/>
          </p:cNvCxnSpPr>
          <p:nvPr/>
        </p:nvCxnSpPr>
        <p:spPr>
          <a:xfrm>
            <a:off x="10441050" y="7890800"/>
            <a:ext cx="504300" cy="69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1" name="Google Shape;131;p1"/>
          <p:cNvSpPr txBox="1"/>
          <p:nvPr/>
        </p:nvSpPr>
        <p:spPr>
          <a:xfrm>
            <a:off x="80325" y="8238775"/>
            <a:ext cx="1105800" cy="3657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Deletion</a:t>
            </a:r>
            <a:endParaRPr b="1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(Single exon to full gene)</a:t>
            </a:r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"/>
          <p:cNvSpPr/>
          <p:nvPr/>
        </p:nvSpPr>
        <p:spPr>
          <a:xfrm>
            <a:off x="1701200" y="8738200"/>
            <a:ext cx="2327100" cy="802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to multi exon deletion –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Disrupts reading frame and is predicted to undergo NMD</a:t>
            </a:r>
            <a:r>
              <a:rPr b="0" i="0" lang="e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baseline="30000" i="0" lang="e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1701200" y="10904150"/>
            <a:ext cx="2327100" cy="802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to multi exon deletion –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Preserves reading frame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"/>
          <p:cNvSpPr/>
          <p:nvPr/>
        </p:nvSpPr>
        <p:spPr>
          <a:xfrm>
            <a:off x="1701200" y="8253750"/>
            <a:ext cx="2327100" cy="276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 gene deletion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"/>
          <p:cNvSpPr/>
          <p:nvPr/>
        </p:nvSpPr>
        <p:spPr>
          <a:xfrm>
            <a:off x="4572975" y="8662000"/>
            <a:ext cx="5868000" cy="276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present in biologically-relevant transcript(s)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"/>
          <p:cNvSpPr/>
          <p:nvPr/>
        </p:nvSpPr>
        <p:spPr>
          <a:xfrm>
            <a:off x="4544400" y="9544325"/>
            <a:ext cx="5896500" cy="276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 </a:t>
            </a:r>
            <a:r>
              <a:rPr b="0" baseline="3000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b="0" baseline="3000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"/>
          <p:cNvSpPr/>
          <p:nvPr/>
        </p:nvSpPr>
        <p:spPr>
          <a:xfrm>
            <a:off x="4572900" y="9090575"/>
            <a:ext cx="5868000" cy="276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absent from biologically-relevant transcript(s)</a:t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1"/>
          <p:cNvSpPr/>
          <p:nvPr/>
        </p:nvSpPr>
        <p:spPr>
          <a:xfrm>
            <a:off x="4572975" y="9918775"/>
            <a:ext cx="1080900" cy="1558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"/>
          <p:cNvSpPr/>
          <p:nvPr/>
        </p:nvSpPr>
        <p:spPr>
          <a:xfrm>
            <a:off x="6217275" y="9928700"/>
            <a:ext cx="4234500" cy="461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frequent in the general population and/or exon is absent from biologically-relevant transcript(s)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"/>
          <p:cNvSpPr/>
          <p:nvPr/>
        </p:nvSpPr>
        <p:spPr>
          <a:xfrm>
            <a:off x="10945225" y="8253750"/>
            <a:ext cx="1281000" cy="276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 </a:t>
            </a:r>
            <a:r>
              <a:rPr b="0" baseline="3000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b="0" baseline="3000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"/>
          <p:cNvSpPr/>
          <p:nvPr/>
        </p:nvSpPr>
        <p:spPr>
          <a:xfrm>
            <a:off x="4544400" y="11562250"/>
            <a:ext cx="5907300" cy="276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 </a:t>
            </a:r>
            <a:r>
              <a:rPr b="0" baseline="30000" i="0" lang="en" sz="12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" sz="1200">
                <a:solidFill>
                  <a:srgbClr val="FF0000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(If relevant please specify regions)</a:t>
            </a:r>
            <a:endParaRPr b="0" i="0" sz="1200" u="none" cap="none" strike="noStrike">
              <a:solidFill>
                <a:srgbClr val="000000"/>
              </a:solidFill>
              <a:highlight>
                <a:srgbClr val="FFFF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" name="Google Shape;142;p1"/>
          <p:cNvSpPr/>
          <p:nvPr/>
        </p:nvSpPr>
        <p:spPr>
          <a:xfrm>
            <a:off x="10945225" y="8662000"/>
            <a:ext cx="1281000" cy="276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"/>
          <p:cNvSpPr/>
          <p:nvPr/>
        </p:nvSpPr>
        <p:spPr>
          <a:xfrm>
            <a:off x="10945225" y="9090575"/>
            <a:ext cx="1281000" cy="276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"/>
          <p:cNvSpPr/>
          <p:nvPr/>
        </p:nvSpPr>
        <p:spPr>
          <a:xfrm>
            <a:off x="10945225" y="9544325"/>
            <a:ext cx="1281000" cy="276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"/>
          <p:cNvSpPr/>
          <p:nvPr/>
        </p:nvSpPr>
        <p:spPr>
          <a:xfrm>
            <a:off x="10945225" y="9973850"/>
            <a:ext cx="1281000" cy="371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"/>
          <p:cNvSpPr/>
          <p:nvPr/>
        </p:nvSpPr>
        <p:spPr>
          <a:xfrm>
            <a:off x="10945225" y="10562425"/>
            <a:ext cx="1281000" cy="324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"/>
          <p:cNvSpPr/>
          <p:nvPr/>
        </p:nvSpPr>
        <p:spPr>
          <a:xfrm>
            <a:off x="10945225" y="11065050"/>
            <a:ext cx="1281000" cy="371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"/>
          <p:cNvSpPr/>
          <p:nvPr/>
        </p:nvSpPr>
        <p:spPr>
          <a:xfrm>
            <a:off x="10945225" y="11562250"/>
            <a:ext cx="1281000" cy="276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"/>
          <p:cNvSpPr txBox="1"/>
          <p:nvPr/>
        </p:nvSpPr>
        <p:spPr>
          <a:xfrm>
            <a:off x="80325" y="12085325"/>
            <a:ext cx="1105800" cy="1481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Duplication</a:t>
            </a:r>
            <a:endParaRPr b="1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(≥1 exon in size and must be completely contained within gene)</a:t>
            </a:r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1"/>
          <p:cNvSpPr/>
          <p:nvPr/>
        </p:nvSpPr>
        <p:spPr>
          <a:xfrm>
            <a:off x="1701200" y="12052375"/>
            <a:ext cx="2327100" cy="371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Proven in tandem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"/>
          <p:cNvSpPr/>
          <p:nvPr/>
        </p:nvSpPr>
        <p:spPr>
          <a:xfrm>
            <a:off x="1701200" y="12571475"/>
            <a:ext cx="2327100" cy="450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Presumed in tandem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"/>
          <p:cNvSpPr/>
          <p:nvPr/>
        </p:nvSpPr>
        <p:spPr>
          <a:xfrm>
            <a:off x="1701200" y="13068275"/>
            <a:ext cx="2327100" cy="461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Proven not in tandem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"/>
          <p:cNvSpPr/>
          <p:nvPr/>
        </p:nvSpPr>
        <p:spPr>
          <a:xfrm>
            <a:off x="4533725" y="12051213"/>
            <a:ext cx="5907300" cy="276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Reading frame disrupted and NMD predicted to occur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"/>
          <p:cNvSpPr/>
          <p:nvPr/>
        </p:nvSpPr>
        <p:spPr>
          <a:xfrm>
            <a:off x="4533625" y="12418650"/>
            <a:ext cx="5907300" cy="276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or unknown impact on reading frame and NMD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"/>
          <p:cNvSpPr/>
          <p:nvPr/>
        </p:nvSpPr>
        <p:spPr>
          <a:xfrm>
            <a:off x="4533750" y="12818300"/>
            <a:ext cx="5907300" cy="276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Reading frame presumed disrupted and NMD predicted to occur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"/>
          <p:cNvSpPr/>
          <p:nvPr/>
        </p:nvSpPr>
        <p:spPr>
          <a:xfrm>
            <a:off x="10945225" y="12051213"/>
            <a:ext cx="1281000" cy="276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"/>
          <p:cNvSpPr/>
          <p:nvPr/>
        </p:nvSpPr>
        <p:spPr>
          <a:xfrm>
            <a:off x="10945225" y="12418650"/>
            <a:ext cx="1281000" cy="276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"/>
          <p:cNvSpPr/>
          <p:nvPr/>
        </p:nvSpPr>
        <p:spPr>
          <a:xfrm>
            <a:off x="10945225" y="12818300"/>
            <a:ext cx="1281000" cy="276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"/>
          <p:cNvSpPr/>
          <p:nvPr/>
        </p:nvSpPr>
        <p:spPr>
          <a:xfrm>
            <a:off x="10945225" y="13160675"/>
            <a:ext cx="1281000" cy="276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"/>
          <p:cNvSpPr txBox="1"/>
          <p:nvPr/>
        </p:nvSpPr>
        <p:spPr>
          <a:xfrm>
            <a:off x="80325" y="13755673"/>
            <a:ext cx="1105800" cy="1075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  <a:extLst>
                  <a:ext uri="http://customooxmlschemas.google.com/">
                    <go:slidesCustomData xmlns:go="http://customooxmlschemas.google.com/" textRoundtripDataId="4"/>
                  </a:ext>
                </a:extLst>
              </a:rPr>
              <a:t>Initiation Codon</a:t>
            </a:r>
            <a:endParaRPr b="1" i="0" sz="1400" u="none" cap="none" strike="noStrik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"/>
          <p:cNvSpPr/>
          <p:nvPr/>
        </p:nvSpPr>
        <p:spPr>
          <a:xfrm>
            <a:off x="1659400" y="14372150"/>
            <a:ext cx="2327100" cy="555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Different functional transcript uses alternative start codon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"/>
          <p:cNvSpPr/>
          <p:nvPr/>
        </p:nvSpPr>
        <p:spPr>
          <a:xfrm>
            <a:off x="1659400" y="13779525"/>
            <a:ext cx="2327100" cy="555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known alternative start codon in other transcripts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"/>
          <p:cNvSpPr/>
          <p:nvPr/>
        </p:nvSpPr>
        <p:spPr>
          <a:xfrm>
            <a:off x="4533801" y="13784050"/>
            <a:ext cx="5781600" cy="274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≥1 pathogenic variant(s) upstream of closest potential in-frame start codon</a:t>
            </a:r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" name="Google Shape;164;p1"/>
          <p:cNvSpPr/>
          <p:nvPr/>
        </p:nvSpPr>
        <p:spPr>
          <a:xfrm>
            <a:off x="4533800" y="14162050"/>
            <a:ext cx="5762700" cy="274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pathogenic variant(s) upstream of closest potential in-frame start codon</a:t>
            </a:r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1"/>
          <p:cNvSpPr/>
          <p:nvPr/>
        </p:nvSpPr>
        <p:spPr>
          <a:xfrm>
            <a:off x="10945225" y="14160700"/>
            <a:ext cx="1281000" cy="276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PVS1_Supp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"/>
          <p:cNvSpPr/>
          <p:nvPr/>
        </p:nvSpPr>
        <p:spPr>
          <a:xfrm>
            <a:off x="10945225" y="13780400"/>
            <a:ext cx="1281000" cy="276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"/>
          <p:cNvSpPr/>
          <p:nvPr/>
        </p:nvSpPr>
        <p:spPr>
          <a:xfrm>
            <a:off x="10945225" y="14511650"/>
            <a:ext cx="1281000" cy="276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"/>
          <p:cNvSpPr/>
          <p:nvPr/>
        </p:nvSpPr>
        <p:spPr>
          <a:xfrm>
            <a:off x="1680250" y="9768325"/>
            <a:ext cx="2327100" cy="91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to multi exon deletion –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Disrupts reading frame and is </a:t>
            </a:r>
            <a:r>
              <a:rPr b="1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</a:t>
            </a: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predicted to undergo NMD</a:t>
            </a:r>
            <a:r>
              <a:rPr b="0" i="0" lang="e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baseline="30000" i="0" lang="e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9" name="Google Shape;169;p1"/>
          <p:cNvCxnSpPr>
            <a:stCxn id="131" idx="3"/>
            <a:endCxn id="134" idx="1"/>
          </p:cNvCxnSpPr>
          <p:nvPr/>
        </p:nvCxnSpPr>
        <p:spPr>
          <a:xfrm flipH="1" rot="10800000">
            <a:off x="1186125" y="8392225"/>
            <a:ext cx="515100" cy="167520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0" name="Google Shape;170;p1"/>
          <p:cNvCxnSpPr>
            <a:stCxn id="131" idx="3"/>
            <a:endCxn id="132" idx="1"/>
          </p:cNvCxnSpPr>
          <p:nvPr/>
        </p:nvCxnSpPr>
        <p:spPr>
          <a:xfrm flipH="1" rot="10800000">
            <a:off x="1186125" y="9139525"/>
            <a:ext cx="515100" cy="92790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1" name="Google Shape;171;p1"/>
          <p:cNvCxnSpPr>
            <a:stCxn id="131" idx="3"/>
            <a:endCxn id="168" idx="1"/>
          </p:cNvCxnSpPr>
          <p:nvPr/>
        </p:nvCxnSpPr>
        <p:spPr>
          <a:xfrm>
            <a:off x="1186125" y="10067425"/>
            <a:ext cx="494100" cy="15600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2" name="Google Shape;172;p1"/>
          <p:cNvCxnSpPr>
            <a:stCxn id="131" idx="3"/>
            <a:endCxn id="133" idx="1"/>
          </p:cNvCxnSpPr>
          <p:nvPr/>
        </p:nvCxnSpPr>
        <p:spPr>
          <a:xfrm>
            <a:off x="1186125" y="10067425"/>
            <a:ext cx="515100" cy="123810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3" name="Google Shape;173;p1"/>
          <p:cNvCxnSpPr>
            <a:stCxn id="134" idx="3"/>
            <a:endCxn id="140" idx="1"/>
          </p:cNvCxnSpPr>
          <p:nvPr/>
        </p:nvCxnSpPr>
        <p:spPr>
          <a:xfrm>
            <a:off x="4028300" y="8392200"/>
            <a:ext cx="6916800" cy="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4" name="Google Shape;174;p1"/>
          <p:cNvCxnSpPr>
            <a:stCxn id="132" idx="3"/>
            <a:endCxn id="135" idx="1"/>
          </p:cNvCxnSpPr>
          <p:nvPr/>
        </p:nvCxnSpPr>
        <p:spPr>
          <a:xfrm flipH="1" rot="10800000">
            <a:off x="4028300" y="8800450"/>
            <a:ext cx="544800" cy="33900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5" name="Google Shape;175;p1"/>
          <p:cNvCxnSpPr>
            <a:stCxn id="132" idx="3"/>
            <a:endCxn id="137" idx="1"/>
          </p:cNvCxnSpPr>
          <p:nvPr/>
        </p:nvCxnSpPr>
        <p:spPr>
          <a:xfrm>
            <a:off x="4028300" y="9139450"/>
            <a:ext cx="544500" cy="8970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6" name="Google Shape;176;p1"/>
          <p:cNvCxnSpPr>
            <a:stCxn id="168" idx="3"/>
            <a:endCxn id="136" idx="1"/>
          </p:cNvCxnSpPr>
          <p:nvPr/>
        </p:nvCxnSpPr>
        <p:spPr>
          <a:xfrm flipH="1" rot="10800000">
            <a:off x="4007350" y="9682825"/>
            <a:ext cx="537000" cy="54060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7" name="Google Shape;177;p1"/>
          <p:cNvCxnSpPr>
            <a:stCxn id="168" idx="3"/>
            <a:endCxn id="138" idx="1"/>
          </p:cNvCxnSpPr>
          <p:nvPr/>
        </p:nvCxnSpPr>
        <p:spPr>
          <a:xfrm>
            <a:off x="4007350" y="10223425"/>
            <a:ext cx="565500" cy="47460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8" name="Google Shape;178;p1"/>
          <p:cNvCxnSpPr>
            <a:stCxn id="133" idx="3"/>
            <a:endCxn id="138" idx="1"/>
          </p:cNvCxnSpPr>
          <p:nvPr/>
        </p:nvCxnSpPr>
        <p:spPr>
          <a:xfrm flipH="1" rot="10800000">
            <a:off x="4028300" y="10697900"/>
            <a:ext cx="544800" cy="60750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9" name="Google Shape;179;p1"/>
          <p:cNvCxnSpPr>
            <a:stCxn id="133" idx="3"/>
            <a:endCxn id="141" idx="1"/>
          </p:cNvCxnSpPr>
          <p:nvPr/>
        </p:nvCxnSpPr>
        <p:spPr>
          <a:xfrm>
            <a:off x="4028300" y="11305400"/>
            <a:ext cx="516000" cy="39540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0" name="Google Shape;180;p1"/>
          <p:cNvCxnSpPr>
            <a:stCxn id="138" idx="3"/>
            <a:endCxn id="139" idx="1"/>
          </p:cNvCxnSpPr>
          <p:nvPr/>
        </p:nvCxnSpPr>
        <p:spPr>
          <a:xfrm flipH="1" rot="10800000">
            <a:off x="5653875" y="10159675"/>
            <a:ext cx="563400" cy="53820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1" name="Google Shape;181;p1"/>
          <p:cNvCxnSpPr>
            <a:stCxn id="138" idx="3"/>
          </p:cNvCxnSpPr>
          <p:nvPr/>
        </p:nvCxnSpPr>
        <p:spPr>
          <a:xfrm>
            <a:off x="5653875" y="10697875"/>
            <a:ext cx="563400" cy="28980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2" name="Google Shape;182;p1"/>
          <p:cNvCxnSpPr>
            <a:stCxn id="135" idx="3"/>
            <a:endCxn id="142" idx="1"/>
          </p:cNvCxnSpPr>
          <p:nvPr/>
        </p:nvCxnSpPr>
        <p:spPr>
          <a:xfrm>
            <a:off x="10440975" y="8800450"/>
            <a:ext cx="504300" cy="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3" name="Google Shape;183;p1"/>
          <p:cNvCxnSpPr>
            <a:stCxn id="137" idx="3"/>
            <a:endCxn id="143" idx="1"/>
          </p:cNvCxnSpPr>
          <p:nvPr/>
        </p:nvCxnSpPr>
        <p:spPr>
          <a:xfrm>
            <a:off x="10440900" y="9229025"/>
            <a:ext cx="504300" cy="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4" name="Google Shape;184;p1"/>
          <p:cNvCxnSpPr>
            <a:stCxn id="136" idx="3"/>
            <a:endCxn id="144" idx="1"/>
          </p:cNvCxnSpPr>
          <p:nvPr/>
        </p:nvCxnSpPr>
        <p:spPr>
          <a:xfrm>
            <a:off x="10440900" y="9682775"/>
            <a:ext cx="504300" cy="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5" name="Google Shape;185;p1"/>
          <p:cNvCxnSpPr>
            <a:stCxn id="139" idx="3"/>
            <a:endCxn id="145" idx="1"/>
          </p:cNvCxnSpPr>
          <p:nvPr/>
        </p:nvCxnSpPr>
        <p:spPr>
          <a:xfrm>
            <a:off x="10451775" y="10159550"/>
            <a:ext cx="493500" cy="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6" name="Google Shape;186;p1"/>
          <p:cNvCxnSpPr>
            <a:stCxn id="141" idx="3"/>
            <a:endCxn id="148" idx="1"/>
          </p:cNvCxnSpPr>
          <p:nvPr/>
        </p:nvCxnSpPr>
        <p:spPr>
          <a:xfrm>
            <a:off x="10451700" y="11700700"/>
            <a:ext cx="493500" cy="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7" name="Google Shape;187;p1"/>
          <p:cNvCxnSpPr>
            <a:stCxn id="149" idx="3"/>
            <a:endCxn id="150" idx="1"/>
          </p:cNvCxnSpPr>
          <p:nvPr/>
        </p:nvCxnSpPr>
        <p:spPr>
          <a:xfrm flipH="1" rot="10800000">
            <a:off x="1186125" y="12238175"/>
            <a:ext cx="515100" cy="58770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8" name="Google Shape;188;p1"/>
          <p:cNvCxnSpPr>
            <a:stCxn id="149" idx="3"/>
            <a:endCxn id="151" idx="1"/>
          </p:cNvCxnSpPr>
          <p:nvPr/>
        </p:nvCxnSpPr>
        <p:spPr>
          <a:xfrm flipH="1" rot="10800000">
            <a:off x="1186125" y="12796475"/>
            <a:ext cx="515100" cy="2940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9" name="Google Shape;189;p1"/>
          <p:cNvCxnSpPr>
            <a:stCxn id="149" idx="3"/>
            <a:endCxn id="152" idx="1"/>
          </p:cNvCxnSpPr>
          <p:nvPr/>
        </p:nvCxnSpPr>
        <p:spPr>
          <a:xfrm>
            <a:off x="1186125" y="12825875"/>
            <a:ext cx="515100" cy="47340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0" name="Google Shape;190;p1"/>
          <p:cNvCxnSpPr>
            <a:stCxn id="150" idx="3"/>
            <a:endCxn id="154" idx="1"/>
          </p:cNvCxnSpPr>
          <p:nvPr/>
        </p:nvCxnSpPr>
        <p:spPr>
          <a:xfrm>
            <a:off x="4028300" y="12238075"/>
            <a:ext cx="505200" cy="31890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1" name="Google Shape;191;p1"/>
          <p:cNvCxnSpPr>
            <a:stCxn id="151" idx="3"/>
            <a:endCxn id="154" idx="1"/>
          </p:cNvCxnSpPr>
          <p:nvPr/>
        </p:nvCxnSpPr>
        <p:spPr>
          <a:xfrm flipH="1" rot="10800000">
            <a:off x="4028300" y="12557075"/>
            <a:ext cx="505200" cy="23940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2" name="Google Shape;192;p1"/>
          <p:cNvCxnSpPr>
            <a:stCxn id="151" idx="3"/>
            <a:endCxn id="155" idx="1"/>
          </p:cNvCxnSpPr>
          <p:nvPr/>
        </p:nvCxnSpPr>
        <p:spPr>
          <a:xfrm>
            <a:off x="4028300" y="12796475"/>
            <a:ext cx="505500" cy="16020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3" name="Google Shape;193;p1"/>
          <p:cNvCxnSpPr>
            <a:stCxn id="153" idx="3"/>
            <a:endCxn id="156" idx="1"/>
          </p:cNvCxnSpPr>
          <p:nvPr/>
        </p:nvCxnSpPr>
        <p:spPr>
          <a:xfrm>
            <a:off x="10441025" y="12189663"/>
            <a:ext cx="504300" cy="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4" name="Google Shape;194;p1"/>
          <p:cNvCxnSpPr>
            <a:stCxn id="154" idx="3"/>
            <a:endCxn id="157" idx="1"/>
          </p:cNvCxnSpPr>
          <p:nvPr/>
        </p:nvCxnSpPr>
        <p:spPr>
          <a:xfrm>
            <a:off x="10440925" y="12557100"/>
            <a:ext cx="504300" cy="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5" name="Google Shape;195;p1"/>
          <p:cNvCxnSpPr>
            <a:stCxn id="155" idx="3"/>
            <a:endCxn id="158" idx="1"/>
          </p:cNvCxnSpPr>
          <p:nvPr/>
        </p:nvCxnSpPr>
        <p:spPr>
          <a:xfrm>
            <a:off x="10441050" y="12956750"/>
            <a:ext cx="504300" cy="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6" name="Google Shape;196;p1"/>
          <p:cNvCxnSpPr>
            <a:stCxn id="162" idx="3"/>
            <a:endCxn id="163" idx="1"/>
          </p:cNvCxnSpPr>
          <p:nvPr/>
        </p:nvCxnSpPr>
        <p:spPr>
          <a:xfrm flipH="1" rot="10800000">
            <a:off x="3986500" y="13921275"/>
            <a:ext cx="547200" cy="13620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7" name="Google Shape;197;p1"/>
          <p:cNvCxnSpPr>
            <a:stCxn id="162" idx="3"/>
            <a:endCxn id="164" idx="1"/>
          </p:cNvCxnSpPr>
          <p:nvPr/>
        </p:nvCxnSpPr>
        <p:spPr>
          <a:xfrm>
            <a:off x="3986500" y="14057475"/>
            <a:ext cx="547200" cy="24180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8" name="Google Shape;198;p1"/>
          <p:cNvCxnSpPr>
            <a:stCxn id="161" idx="3"/>
            <a:endCxn id="167" idx="1"/>
          </p:cNvCxnSpPr>
          <p:nvPr/>
        </p:nvCxnSpPr>
        <p:spPr>
          <a:xfrm>
            <a:off x="3986500" y="14650100"/>
            <a:ext cx="6958800" cy="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9" name="Google Shape;199;p1"/>
          <p:cNvCxnSpPr>
            <a:stCxn id="163" idx="3"/>
            <a:endCxn id="166" idx="1"/>
          </p:cNvCxnSpPr>
          <p:nvPr/>
        </p:nvCxnSpPr>
        <p:spPr>
          <a:xfrm flipH="1" rot="10800000">
            <a:off x="10315401" y="13918750"/>
            <a:ext cx="629700" cy="240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0" name="Google Shape;200;p1"/>
          <p:cNvCxnSpPr>
            <a:stCxn id="164" idx="3"/>
            <a:endCxn id="165" idx="1"/>
          </p:cNvCxnSpPr>
          <p:nvPr/>
        </p:nvCxnSpPr>
        <p:spPr>
          <a:xfrm>
            <a:off x="10296500" y="14299150"/>
            <a:ext cx="648600" cy="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1" name="Google Shape;201;p1"/>
          <p:cNvCxnSpPr>
            <a:stCxn id="160" idx="3"/>
            <a:endCxn id="162" idx="1"/>
          </p:cNvCxnSpPr>
          <p:nvPr/>
        </p:nvCxnSpPr>
        <p:spPr>
          <a:xfrm flipH="1" rot="10800000">
            <a:off x="1186125" y="14057473"/>
            <a:ext cx="473400" cy="23610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2" name="Google Shape;202;p1"/>
          <p:cNvCxnSpPr>
            <a:stCxn id="160" idx="3"/>
            <a:endCxn id="161" idx="1"/>
          </p:cNvCxnSpPr>
          <p:nvPr/>
        </p:nvCxnSpPr>
        <p:spPr>
          <a:xfrm>
            <a:off x="1186125" y="14293573"/>
            <a:ext cx="473400" cy="35640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3" name="Google Shape;203;p1"/>
          <p:cNvSpPr/>
          <p:nvPr/>
        </p:nvSpPr>
        <p:spPr>
          <a:xfrm>
            <a:off x="6217275" y="10498225"/>
            <a:ext cx="2618100" cy="978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not frequent in the general population and exon is present in biologically-relevant transcript(s)</a:t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p1"/>
          <p:cNvSpPr/>
          <p:nvPr/>
        </p:nvSpPr>
        <p:spPr>
          <a:xfrm>
            <a:off x="9220300" y="10498225"/>
            <a:ext cx="1231500" cy="452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&gt;10% of protein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"/>
          <p:cNvSpPr/>
          <p:nvPr/>
        </p:nvSpPr>
        <p:spPr>
          <a:xfrm>
            <a:off x="9220225" y="11024400"/>
            <a:ext cx="1231500" cy="452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&lt;10% of protein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6" name="Google Shape;206;p1"/>
          <p:cNvCxnSpPr>
            <a:stCxn id="203" idx="3"/>
            <a:endCxn id="204" idx="1"/>
          </p:cNvCxnSpPr>
          <p:nvPr/>
        </p:nvCxnSpPr>
        <p:spPr>
          <a:xfrm flipH="1" rot="10800000">
            <a:off x="8835375" y="10724575"/>
            <a:ext cx="384900" cy="26310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7" name="Google Shape;207;p1"/>
          <p:cNvCxnSpPr>
            <a:stCxn id="203" idx="3"/>
            <a:endCxn id="205" idx="1"/>
          </p:cNvCxnSpPr>
          <p:nvPr/>
        </p:nvCxnSpPr>
        <p:spPr>
          <a:xfrm>
            <a:off x="8835375" y="10987675"/>
            <a:ext cx="384900" cy="26310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8" name="Google Shape;208;p1"/>
          <p:cNvCxnSpPr>
            <a:stCxn id="204" idx="3"/>
            <a:endCxn id="146" idx="1"/>
          </p:cNvCxnSpPr>
          <p:nvPr/>
        </p:nvCxnSpPr>
        <p:spPr>
          <a:xfrm>
            <a:off x="10451800" y="10724575"/>
            <a:ext cx="493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9" name="Google Shape;209;p1"/>
          <p:cNvCxnSpPr>
            <a:stCxn id="205" idx="3"/>
            <a:endCxn id="147" idx="1"/>
          </p:cNvCxnSpPr>
          <p:nvPr/>
        </p:nvCxnSpPr>
        <p:spPr>
          <a:xfrm>
            <a:off x="10451725" y="11250750"/>
            <a:ext cx="493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0" name="Google Shape;210;p1"/>
          <p:cNvSpPr/>
          <p:nvPr/>
        </p:nvSpPr>
        <p:spPr>
          <a:xfrm>
            <a:off x="4536350" y="6111113"/>
            <a:ext cx="1080900" cy="1558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"/>
          <p:cNvSpPr/>
          <p:nvPr/>
        </p:nvSpPr>
        <p:spPr>
          <a:xfrm>
            <a:off x="6180650" y="6099400"/>
            <a:ext cx="4234500" cy="461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frequent in the general population and/or exon is absent from biologically-relevant transcript(s)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"/>
          <p:cNvSpPr/>
          <p:nvPr/>
        </p:nvSpPr>
        <p:spPr>
          <a:xfrm>
            <a:off x="6180650" y="6668925"/>
            <a:ext cx="2618100" cy="978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not frequent in the general population and exon is present in biologically-relevant transcript(s)</a:t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" name="Google Shape;213;p1"/>
          <p:cNvSpPr/>
          <p:nvPr/>
        </p:nvSpPr>
        <p:spPr>
          <a:xfrm>
            <a:off x="9183675" y="6668925"/>
            <a:ext cx="1231500" cy="452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&gt;10% of protein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"/>
          <p:cNvSpPr/>
          <p:nvPr/>
        </p:nvSpPr>
        <p:spPr>
          <a:xfrm>
            <a:off x="10945225" y="6144550"/>
            <a:ext cx="1281000" cy="371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"/>
          <p:cNvSpPr/>
          <p:nvPr/>
        </p:nvSpPr>
        <p:spPr>
          <a:xfrm>
            <a:off x="10945225" y="6733125"/>
            <a:ext cx="1281000" cy="324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"/>
          <p:cNvSpPr/>
          <p:nvPr/>
        </p:nvSpPr>
        <p:spPr>
          <a:xfrm>
            <a:off x="10945225" y="7235750"/>
            <a:ext cx="1281000" cy="371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"/>
          <p:cNvSpPr/>
          <p:nvPr/>
        </p:nvSpPr>
        <p:spPr>
          <a:xfrm>
            <a:off x="9183600" y="7195100"/>
            <a:ext cx="1231500" cy="452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&lt;10% of protein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8" name="Google Shape;218;p1"/>
          <p:cNvCxnSpPr>
            <a:endCxn id="211" idx="1"/>
          </p:cNvCxnSpPr>
          <p:nvPr/>
        </p:nvCxnSpPr>
        <p:spPr>
          <a:xfrm flipH="1" rot="10800000">
            <a:off x="5617250" y="6330250"/>
            <a:ext cx="563400" cy="53820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9" name="Google Shape;219;p1"/>
          <p:cNvCxnSpPr>
            <a:endCxn id="212" idx="1"/>
          </p:cNvCxnSpPr>
          <p:nvPr/>
        </p:nvCxnSpPr>
        <p:spPr>
          <a:xfrm>
            <a:off x="5617250" y="6868575"/>
            <a:ext cx="563400" cy="28980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0" name="Google Shape;220;p1"/>
          <p:cNvCxnSpPr>
            <a:stCxn id="212" idx="3"/>
            <a:endCxn id="213" idx="1"/>
          </p:cNvCxnSpPr>
          <p:nvPr/>
        </p:nvCxnSpPr>
        <p:spPr>
          <a:xfrm flipH="1" rot="10800000">
            <a:off x="8798750" y="6895275"/>
            <a:ext cx="384900" cy="26310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1" name="Google Shape;221;p1"/>
          <p:cNvCxnSpPr>
            <a:stCxn id="212" idx="3"/>
            <a:endCxn id="217" idx="1"/>
          </p:cNvCxnSpPr>
          <p:nvPr/>
        </p:nvCxnSpPr>
        <p:spPr>
          <a:xfrm>
            <a:off x="8798750" y="7158375"/>
            <a:ext cx="384900" cy="263100"/>
          </a:xfrm>
          <a:prstGeom prst="straightConnector1">
            <a:avLst/>
          </a:prstGeom>
          <a:noFill/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2" name="Google Shape;222;p1"/>
          <p:cNvCxnSpPr>
            <a:stCxn id="211" idx="3"/>
            <a:endCxn id="214" idx="1"/>
          </p:cNvCxnSpPr>
          <p:nvPr/>
        </p:nvCxnSpPr>
        <p:spPr>
          <a:xfrm>
            <a:off x="10415150" y="6330250"/>
            <a:ext cx="5301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3" name="Google Shape;223;p1"/>
          <p:cNvCxnSpPr>
            <a:stCxn id="213" idx="3"/>
            <a:endCxn id="215" idx="1"/>
          </p:cNvCxnSpPr>
          <p:nvPr/>
        </p:nvCxnSpPr>
        <p:spPr>
          <a:xfrm>
            <a:off x="10415175" y="6895275"/>
            <a:ext cx="5301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4" name="Google Shape;224;p1"/>
          <p:cNvCxnSpPr>
            <a:stCxn id="217" idx="3"/>
            <a:endCxn id="216" idx="1"/>
          </p:cNvCxnSpPr>
          <p:nvPr/>
        </p:nvCxnSpPr>
        <p:spPr>
          <a:xfrm>
            <a:off x="10415100" y="7421450"/>
            <a:ext cx="5301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5" name="Google Shape;225;p1"/>
          <p:cNvCxnSpPr>
            <a:stCxn id="89" idx="3"/>
            <a:endCxn id="210" idx="1"/>
          </p:cNvCxnSpPr>
          <p:nvPr/>
        </p:nvCxnSpPr>
        <p:spPr>
          <a:xfrm flipH="1" rot="10800000">
            <a:off x="4028325" y="6890300"/>
            <a:ext cx="507900" cy="17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6" name="Google Shape;226;p1"/>
          <p:cNvCxnSpPr>
            <a:stCxn id="89" idx="3"/>
            <a:endCxn id="97" idx="1"/>
          </p:cNvCxnSpPr>
          <p:nvPr/>
        </p:nvCxnSpPr>
        <p:spPr>
          <a:xfrm>
            <a:off x="4028325" y="7069400"/>
            <a:ext cx="505500" cy="82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7" name="Google Shape;227;p1"/>
          <p:cNvCxnSpPr>
            <a:stCxn id="152" idx="3"/>
            <a:endCxn id="159" idx="1"/>
          </p:cNvCxnSpPr>
          <p:nvPr/>
        </p:nvCxnSpPr>
        <p:spPr>
          <a:xfrm>
            <a:off x="4028300" y="13299125"/>
            <a:ext cx="6916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8" name="Google Shape;228;p1"/>
          <p:cNvCxnSpPr>
            <a:stCxn id="150" idx="3"/>
            <a:endCxn id="153" idx="1"/>
          </p:cNvCxnSpPr>
          <p:nvPr/>
        </p:nvCxnSpPr>
        <p:spPr>
          <a:xfrm flipH="1" rot="10800000">
            <a:off x="4028300" y="12189775"/>
            <a:ext cx="505500" cy="4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